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页 · AI生成内容鉴别】</a:t>
            </a:r>
          </a:p>
          <a:p/>
          <a:p>
            <a:r>
              <a:t>【讲述要点】</a:t>
            </a:r>
          </a:p>
          <a:p>
            <a:r>
              <a:t>• 图像与文本两条独立检测链。</a:t>
            </a:r>
          </a:p>
          <a:p>
            <a:r>
              <a:t>• 异构表征与目标域自训练。</a:t>
            </a:r>
          </a:p>
          <a:p>
            <a:r>
              <a:t>• 南枝大学参赛队。</a:t>
            </a:r>
          </a:p>
          <a:p/>
          <a:p>
            <a:r>
              <a:t>【口播正文】</a:t>
            </a:r>
          </a:p>
          <a:p>
            <a:r>
              <a:t>各位评委好，我们是南枝大学参赛队。下面汇报我们的 AI 生成内容检测方案，分别面向图像和文本两个赛道。</a:t>
            </a:r>
          </a:p>
          <a:p/>
          <a:p>
            <a:r>
              <a:t>【转场】</a:t>
            </a:r>
          </a:p>
          <a:p>
            <a:r>
              <a:t>从检测挑战开始。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页 · 少标签与分布变化下的检测任务】</a:t>
            </a:r>
          </a:p>
          <a:p/>
          <a:p>
            <a:r>
              <a:t>【讲述要点】</a:t>
            </a:r>
          </a:p>
          <a:p>
            <a:r>
              <a:t>• 每条赛道 1,000 条初赛标注样例与 20,000 条复赛无标签目标样本。</a:t>
            </a:r>
          </a:p>
          <a:p>
            <a:r>
              <a:t>• 少标签下借助预训练模型，LoRA适配检测任务。</a:t>
            </a:r>
          </a:p>
          <a:p>
            <a:r>
              <a:t>• 目标域学习与单样本推理共同设计。</a:t>
            </a:r>
          </a:p>
          <a:p/>
          <a:p>
            <a:r>
              <a:t>【口播正文】</a:t>
            </a:r>
          </a:p>
          <a:p>
            <a:r>
              <a:t>检测任务存在三个难点。第一，标签少，有限的人工样例很难覆盖各种生成方式。第二，数据会变，换一个来源，或者经过压缩、改写，检测线索就可能变化。第三，实际使用时，系统需要一张图、一段文本地给出结果。</a:t>
            </a:r>
          </a:p>
          <a:p>
            <a:r>
              <a:t>所以，我们的思路是：先用预训练模型和人工标签建立检测基础，再利用无标签数据适应当前目标集合，同时设计逐条推理的方法。下面看这三个环节怎样连接起来。</a:t>
            </a:r>
          </a:p>
          <a:p/>
          <a:p>
            <a:r>
              <a:t>【转场】</a:t>
            </a:r>
          </a:p>
          <a:p>
            <a:r>
              <a:t>下面介绍整体架构。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页 · 两条独立检测链，共同的方法主线】</a:t>
            </a:r>
          </a:p>
          <a:p/>
          <a:p>
            <a:r>
              <a:t>【讲述要点】</a:t>
            </a:r>
          </a:p>
          <a:p>
            <a:r>
              <a:t>• 实线连接单样本输入、预处理、模型分支、融合与独立输出；虚线代表训练和辅助信号。</a:t>
            </a:r>
          </a:p>
          <a:p>
            <a:r>
              <a:t>• 图像8个分量来自CLIP-H四路、bigG三路及SigLIP2一路，进入ECDF和三槽融合。</a:t>
            </a:r>
          </a:p>
          <a:p>
            <a:r>
              <a:t>• 在线文本两基座各先平均logit再sigmoid，然后9:1融合；整批排名路径在第9页单独说明。</a:t>
            </a:r>
          </a:p>
          <a:p/>
          <a:p>
            <a:r>
              <a:t>【口播正文】</a:t>
            </a:r>
          </a:p>
          <a:p>
            <a:r>
              <a:t>请看这张全景架构图。上面是图像链，下面是文本链。沿实线从左往右看，是单样本输入、预处理、模型分支、融合和各自的输出。虚线表示训练与辅助信号。图像有三类骨干、八个分量；文本用两个基座、三组适配器。</a:t>
            </a:r>
          </a:p>
          <a:p>
            <a:r>
              <a:t>图像和文本各自训练、各自输出。两条链共用的方法思路是：借助预训练模型提取特征，用软标签学习目标数据，再组合不同模型的判断。也就是从数据、训练到融合，最后接到逐条推理接口。我们先看图像侧。</a:t>
            </a:r>
          </a:p>
          <a:p/>
          <a:p>
            <a:r>
              <a:t>【转场】</a:t>
            </a:r>
          </a:p>
          <a:p>
            <a:r>
              <a:t>先看图像训练。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页 · 图像训练：转导学生与监督分量】</a:t>
            </a:r>
          </a:p>
          <a:p/>
          <a:p>
            <a:r>
              <a:t>【讲述要点】</a:t>
            </a:r>
          </a:p>
          <a:p>
            <a:r>
              <a:t>• 上方左侧是20,000张目标图像的教师软标签，与1,000张官方样例的硬标签混合；硬标签权重4。</a:t>
            </a:r>
          </a:p>
          <a:p>
            <a:r>
              <a:t>• 中间放大的是CLIP-H骨干内线性层的LoRA适配示意。冻结W，与低秩A、B旁路的更新相加，只更新LoRA与分类头，使用加权BCE训练。</a:t>
            </a:r>
          </a:p>
          <a:p>
            <a:r>
              <a:t>• CLIP-H主跑种子20261003训练2轮，三个追加种子20261101/02/03各4轮。不能把主跑与追加分量说成只改种子、训练预算完全相同。</a:t>
            </a:r>
          </a:p>
          <a:p>
            <a:r>
              <a:t>• 下方三个监督支路：bigG224两个分量和bigG384一个分量使用Tiny-GenImage 28.8k；SigLIP2使用GenImage++78k，各叠加官方800训练、200验证。</a:t>
            </a:r>
          </a:p>
          <a:p>
            <a:r>
              <a:t>• 所有分量冻结骨干并更新LoRA及分类头；图中并行路径是线性层适配示意，不表示在骨干后串接额外LoRA网络。</a:t>
            </a:r>
          </a:p>
          <a:p/>
          <a:p>
            <a:r>
              <a:t>【口播正文】</a:t>
            </a:r>
          </a:p>
          <a:p>
            <a:r>
              <a:t>图像训练有两类来源。上面是转导蒸馏。这里的“转导”，就是把当前 20000 张无标签目标图像也用于训练。教师先给出软标签，4 个 CLIP-H 学生再结合 1000 张官方标注学习这些判断。不同训练配置提供多组学生输出。</a:t>
            </a:r>
          </a:p>
          <a:p>
            <a:r>
              <a:t>看中间的放大图：骨干权重冻结，LoRA 低秩旁路与它并行，再相加、进入分类头。训练只更新 LoRA 和分类头，加入 JPEG 增强；监督支路还使用水平翻转。这样减少了更新参数，推理仍要运行完整骨干。</a:t>
            </a:r>
          </a:p>
          <a:p>
            <a:r>
              <a:t>下面是独立监督训练，包括 bigG 3 个分量和 SigLIP2，使用 Tiny-GenImage、GenImage++，并加入官方 800 条训练、200 条验证。两类来源补充目标域针对性和视觉多样性。下一步，把 8 路输出融合。</a:t>
            </a:r>
          </a:p>
          <a:p/>
          <a:p>
            <a:r>
              <a:t>【转场】</a:t>
            </a:r>
          </a:p>
          <a:p>
            <a:r>
              <a:t>训练得到八个分量后，下一页沿每条箭头看单张图怎样得到最终分数。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页 · 图像融合：三槽计算与逐图ECDF】</a:t>
            </a:r>
          </a:p>
          <a:p/>
          <a:p>
            <a:r>
              <a:t>【讲述要点】</a:t>
            </a:r>
          </a:p>
          <a:p>
            <a:r>
              <a:t>• 从左侧八路输出开始，每个分量各自查固定参考ECDF，将原始分转成同一百分位尺度。</a:t>
            </a:r>
          </a:p>
          <a:p>
            <a:r>
              <a:t>• 五条上路进入主槽：四个CLIP-H与一个SigLIP2等权。两条bigG224等权进入第二槽，bigG384单独占第三槽；三槽权重分别3/4、1/7、3/28。</a:t>
            </a:r>
          </a:p>
          <a:p>
            <a:r>
              <a:t>• 沿槽右侧的汇合线下到base，直接得到加权和；这里不插入额外base ECDF。左下尺寸先验由0.4桶ECDF与0.6GBM ECDF混合，再做先验ECDF。</a:t>
            </a:r>
          </a:p>
          <a:p>
            <a:r>
              <a:t>• 两路在下方融合为z=0.8base+0.2prior，再向右查询最终ECDF，得到单图分数。</a:t>
            </a:r>
          </a:p>
          <a:p>
            <a:r>
              <a:t>• 右侧阶梯图仅示意查表函数，不是ROC或新增实验。固定参考表各有20,000项，按并列平均秩处理，F(x)=(lo+hi+1)/(2(N+1))；输出为排序百分位，尺寸先验依赖分布。</a:t>
            </a:r>
          </a:p>
          <a:p/>
          <a:p>
            <a:r>
              <a:t>【口播正文】</a:t>
            </a:r>
          </a:p>
          <a:p>
            <a:r>
              <a:t>8 路分数不能简单相加。有的模型分数集中在中间，有的接近零或一，直接加权，实际作用就会受到分数尺度影响。</a:t>
            </a:r>
          </a:p>
          <a:p>
            <a:r>
              <a:t>我们的做法是先做 ECDF 映射，把每一路分数转成参考集合中的排序位置，再分成图中的三个槽。四个 CLIP-H 和 SigLIP2 等权进入主槽，两个低分辨率 bigG 进入第二槽，高分辨率 bigG 进入第三槽。主槽占四分之三，其余权重见图中公式。</a:t>
            </a:r>
          </a:p>
          <a:p>
            <a:r>
              <a:t>三槽组合后，再按八比二加入尺寸先验，最后做一次 ECDF 映射。尺寸先验利用宽高、像素和文件大小，补充图像规格信息。但这类线索依赖数据分布，换场景后要重新评估。</a:t>
            </a:r>
          </a:p>
          <a:p>
            <a:r>
              <a:t>推理时，参考表已经固定，一张图片也能查到自己的排序位置。因此，这个输出是检测分数，不能直接理解为“有多少概率是 AI 生成”。下面看这种组合的效果。</a:t>
            </a:r>
          </a:p>
          <a:p/>
          <a:p>
            <a:r>
              <a:t>【转场】</a:t>
            </a:r>
          </a:p>
          <a:p>
            <a:r>
              <a:t>接着用融合AUC与分量间排序差异，分析这些分支的实际作用。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页 · 图像效果：融合性能与分量互补】</a:t>
            </a:r>
          </a:p>
          <a:p/>
          <a:p>
            <a:r>
              <a:t>【讲述要点】</a:t>
            </a:r>
          </a:p>
          <a:p>
            <a:r>
              <a:t>• 四种方案的复赛AUC为0.908114、0.916175、0.917360和0.918887，最后两者相差0.001527。基底、权重和训练轮数的变化没有全部解耦，不能把全部差值归给一个因素。</a:t>
            </a:r>
          </a:p>
          <a:p>
            <a:r>
              <a:t>• 右上是最终分量输出的Spearman相关，CLIP-H六对平均0.9601；主跑与SigLIP2为0.7914，与bigG384为0.7091。低相关表明排序差异，仍需足够的检测强度才可能帮助融合。</a:t>
            </a:r>
          </a:p>
          <a:p>
            <a:r>
              <a:t>• 右下在1,000官方样例上做5折OOF，桶统计0.818892、GBM0.819480、两者融合0.824702。它衡量尺寸与文件属性信号，不是未见生成器的鲁棒性成绩。</a:t>
            </a:r>
          </a:p>
          <a:p/>
          <a:p>
            <a:r>
              <a:t>【口播正文】</a:t>
            </a:r>
          </a:p>
          <a:p>
            <a:r>
              <a:t>左边的图展示 4 个主要配置，AUC 从约 0.908 提高到约 0.919，最后两组相差约 0.0015。这些配置同时调整了基底、权重和训练安排，所以这里展示的是选型结果，不能把提升全部算到某一个设计上。</a:t>
            </a:r>
          </a:p>
          <a:p>
            <a:r>
              <a:t>右边再看分量之间的关系。4 路 CLIP-H 的排序比较接近，平均相关约 0.96；主 CLIP-H 与 SigLIP2、以及高分辨率 bigG 的相关更低，说明它们提供了不同判断。</a:t>
            </a:r>
          </a:p>
          <a:p>
            <a:r>
              <a:t>但判断不同，还要有足够的检测能力。我们同时考虑单路效果、分量互补和计算成本，最终保留 8 路。图像部分讲到这里，接下来介绍文本。</a:t>
            </a:r>
          </a:p>
          <a:p/>
          <a:p>
            <a:r>
              <a:t>【转场】</a:t>
            </a:r>
          </a:p>
          <a:p>
            <a:r>
              <a:t>接下来进入文本检测模型与训练策略。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页 · 文本：目标域自训练】</a:t>
            </a:r>
          </a:p>
          <a:p/>
          <a:p>
            <a:r>
              <a:t>【讲述要点】</a:t>
            </a:r>
          </a:p>
          <a:p>
            <a:r>
              <a:t>• 从左上沿实线看已确认的v2标签链：mk_pseudo_v2读取上一代submit_v2_p2AD.csv，先排名，再按sigmoid生成软标签。p43默认标签与日志指向v2；后续43候选中六路非零教师属于不同代际，不能直接接到这条标签链。</a:t>
            </a:r>
          </a:p>
          <a:p>
            <a:r>
              <a:t>• 每折800条官方硬标签以权重2汇入加权BCE；20,000目标文本的软标签以置信权重w汇入。L=mean(w·BCE)，不是除以权重总和。冻结语言基座，更新LoRA和分类头。</a:t>
            </a:r>
          </a:p>
          <a:p>
            <a:r>
              <a:t>• 右侧实线y=σ[4(r−0.5)]，端点约0.1192与0.8808；虚线w=min(1,4|y−0.5|)，中点0，两端饱和到1。图是确定性映射，权重不是标签正确概率。</a:t>
            </a:r>
          </a:p>
          <a:p>
            <a:r>
              <a:t>• 学生对每折200条验证样本预测，由验证AUC选checkpoint；五折OOF用于融合选择。这不是新的独立测试集。</a:t>
            </a:r>
          </a:p>
          <a:p>
            <a:r>
              <a:t>• 主图表示已确认的14B学生v2链路，不表示所有最终adapter都用同一教师或经历同样轮次。转导训练效果限于已使用的目标集合，未见域需要另测。</a:t>
            </a:r>
          </a:p>
          <a:p/>
          <a:p>
            <a:r>
              <a:t>【口播正文】</a:t>
            </a:r>
          </a:p>
          <a:p>
            <a:r>
              <a:t>文本侧同样是 1000 条官方标注，加 20000 条无标签目标文本。关键是把已有检测分数变成训练信号。</a:t>
            </a:r>
          </a:p>
          <a:p>
            <a:r>
              <a:t>请沿左侧实线看：上一代检测器先给 20000 条文本打分，分数转成排名，再由 sigmoid 生成软标签。左侧 800 条官方硬标签汇入加权损失，软标签同时带上置信权重。冻结语言基座后，更新 LoRA 和分类头。</a:t>
            </a:r>
          </a:p>
          <a:p>
            <a:r>
              <a:t>右边实线表示软标签，范围约 0.12 到 0.88；虚线表示权重，中间最低、两端最高为一。官方硬标签权重为二，提供真实监督。这些权重直接作用到二元交叉熵损失。</a:t>
            </a:r>
          </a:p>
          <a:p>
            <a:r>
              <a:t>流程图右侧，中间的每折 200 条只用于验证，AUC 选择检查点；下方的五折折外预测用于融合选型。这样利用目标域数据，也减少中间样本的监督强度，但不能保证教师错误不会传播。下面看最终模型。</a:t>
            </a:r>
          </a:p>
          <a:p/>
          <a:p>
            <a:r>
              <a:t>【转场】</a:t>
            </a:r>
          </a:p>
          <a:p>
            <a:r>
              <a:t>下一页说明最终两种基座与15个适配器如何组合。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页 · 文本：两基座，15个适配器】</a:t>
            </a:r>
          </a:p>
          <a:p/>
          <a:p>
            <a:r>
              <a:t>【讲述要点】</a:t>
            </a:r>
          </a:p>
          <a:p>
            <a:r>
              <a:t>• Qwen2.5-14B-Instruct的p4一组五折共5个adapter；Qwen2.5-7B-Instruct的r3a和r3b各5个。两个基座共享、共15个adapter，不是7B十折交叉验证。</a:t>
            </a:r>
          </a:p>
          <a:p>
            <a:r>
              <a:t>• 基座常驻，每条文本轮换adapter执行5＋5＋5次前向。最终14B权重0.9，7B两组合计0.1；它们是融合参数，不代表各分支独立因果贡献。</a:t>
            </a:r>
          </a:p>
          <a:p>
            <a:r>
              <a:t>• 候选LB AUC分别为多分支教师0.978284、14B自训练0.979964、双14B seed 0.980896、14B p4五折0.981069、最终14B＋7B 0.981301。早期0.9615的模型身份未明确，页面不纳入该点。</a:t>
            </a:r>
          </a:p>
          <a:p>
            <a:r>
              <a:t>• 双seed低于p4五折；最终比p4高0.000232。这些候选结果未固定所有变量，也缺配对显著性检验，不据此宣称多seed或异构融合总会更好。</a:t>
            </a:r>
          </a:p>
          <a:p>
            <a:r>
              <a:t>• 最终成绩来自队伍成绩口径，尚无官方标签用于独立重算；15个adapter是配置结构，实际服务还需要断言加载数量、设备和预测方向。这里没有宣称已完成最终容器验收。</a:t>
            </a:r>
          </a:p>
          <a:p/>
          <a:p>
            <a:r>
              <a:t>【口播正文】</a:t>
            </a:r>
          </a:p>
          <a:p>
            <a:r>
              <a:t>最终方案以 Qwen2.5-14B 为主、7B 为辅。请从模型树上方往下看：2 个共享基座，分出 3 组五折。14B 主分支有 5 个适配器；7B 两个辅助分组各有 5 个，共 15 个。两组 7B 并不是一次十折验证。</a:t>
            </a:r>
          </a:p>
          <a:p>
            <a:r>
              <a:t>推理时，基座常驻，适配器依次切换。14B 运行 5 次，7B 运行 10 次，底部先分别聚合，再按 90% 和 10%汇合。</a:t>
            </a:r>
          </a:p>
          <a:p>
            <a:r>
              <a:t>再看右边的结果：14B 五折组合已经达到约 0.981069，加入 7B 后约为 0.981301，提升约 0.000232。这个收益需要和额外计算一起衡量。因此，辅助分支是否保留，要看它能否补充主模型的判断。下一页解释同一套模型如何处理整批数据和单条请求。</a:t>
            </a:r>
          </a:p>
          <a:p/>
          <a:p>
            <a:r>
              <a:t>【转场】</a:t>
            </a:r>
          </a:p>
          <a:p>
            <a:r>
              <a:t>结构相同也不保证计算链相同，下面分解两条融合路径。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页 · 文本：批排名与单条推理】</a:t>
            </a:r>
          </a:p>
          <a:p/>
          <a:p>
            <a:r>
              <a:t>【讲述要点】</a:t>
            </a:r>
          </a:p>
          <a:p>
            <a:r>
              <a:t>• 整批路径将14B p4和7B两组目标集合预测各自转成排名百分位；7B两组等权，以0.9 r14＋0.05 ra＋0.05 rb融合，再对整批做最终rank。</a:t>
            </a:r>
          </a:p>
          <a:p>
            <a:r>
              <a:t>• 14B训练脚本的目标集合预测先对逐折预测分别rank、按折平均、再rank。先rank再平均一般不等于先平均再rank；页面用分支预测简写这些内层步骤，不能擅自替换成rank(raw mean)。</a:t>
            </a:r>
          </a:p>
          <a:p>
            <a:r>
              <a:t>• 在线14B五个logit共同平均，7B两组共十个logit共同平均；两侧各做一次sigmoid，再按0.9与0.1加权。7B不是两组各sigmoid后再平均。服务内部sigmoid对logit作−30到30夹取。</a:t>
            </a:r>
          </a:p>
          <a:p>
            <a:r>
              <a:t>• 排名空间与logit空间不同，不保证同排序。给定20,000行输出的排序相关约0.9998697006，样本对排序变化218571对、约0.10929%；这不是分类错误率或实际AUC损失，缺真标签不能推得服务同分。</a:t>
            </a:r>
          </a:p>
          <a:p>
            <a:r>
              <a:t>• 在线输入显式截断为最多512 tokens，长文本尾部可能被忽略；检测分数未经概率校准。目标域、长度与并发评测需另外设计。</a:t>
            </a:r>
          </a:p>
          <a:p/>
          <a:p>
            <a:r>
              <a:t>【口播正文】</a:t>
            </a:r>
          </a:p>
          <a:p>
            <a:r>
              <a:t>这里有 2 条计算路径。左边沿 3 个 rank 节点往下看：各组预测先转成排名百分位，再以 90%、5%、5%汇合，最后对整批结果重新排名。</a:t>
            </a:r>
          </a:p>
          <a:p>
            <a:r>
              <a:t>右边从顶部输入往下看，在线服务一次只收到一段文本。14B 的 5 个 logit，也就是模型原始输出，先平均，再做 sigmoid；7B 的 10 个 logit 也共同平均，再做一次 sigmoid。两侧分数最后才按 9:1 加权。</a:t>
            </a:r>
          </a:p>
          <a:p>
            <a:r>
              <a:t>这个顺序很关键，平均和 sigmoid 不能交换。这两条路径使用的计算空间不同，也就不能直接认定检测效果相同。在线输入还会截断到 512 个 token，因此实际评测要对应服务的计算方式和输入条件。下面汇总两条链的结果。</a:t>
            </a:r>
          </a:p>
          <a:p/>
          <a:p>
            <a:r>
              <a:t>【转场】</a:t>
            </a:r>
          </a:p>
          <a:p>
            <a:r>
              <a:t>接着看两个任务的整体检测效果与适用边界。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页 · 双赛道检测结果】</a:t>
            </a:r>
          </a:p>
          <a:p/>
          <a:p>
            <a:r>
              <a:t>【讲述要点】</a:t>
            </a:r>
          </a:p>
          <a:p>
            <a:r>
              <a:t>• 复赛离线图像AUC0.918887，文本AUC0.981301。</a:t>
            </a:r>
          </a:p>
          <a:p>
            <a:r>
              <a:t>• AUC衡量正负样本排序能力，不是准确率。</a:t>
            </a:r>
          </a:p>
          <a:p>
            <a:r>
              <a:t>• 图像通过互补视觉分量，文本通过自训练与主辅融合。</a:t>
            </a:r>
          </a:p>
          <a:p/>
          <a:p>
            <a:r>
              <a:t>【口播正文】</a:t>
            </a:r>
          </a:p>
          <a:p>
            <a:r>
              <a:t>这页是最终的两项结果：图像赛道 AUC 为 0.918887，文本赛道为 0.981301，分别对应两条检测链的复赛离线结果。</a:t>
            </a:r>
          </a:p>
          <a:p>
            <a:r>
              <a:t>图像侧结合异构骨干、目标域蒸馏和百分位融合；文本侧结合教师软监督和主辅语言模型，得到图中所示的整体检测效果。</a:t>
            </a:r>
          </a:p>
          <a:p>
            <a:r>
              <a:t>这里要说明，AUC 衡量的是排序判别能力，不是准确率，也不对应某一个固定阈值。真正使用时，还要看误报和漏报，尤其是正常人工内容被误判的代价。因此，这两项结果是检测基础；进入具体场景，还需要进一步选择阈值。接下来讨论多场景和鲁棒性。</a:t>
            </a:r>
          </a:p>
          <a:p/>
          <a:p>
            <a:r>
              <a:t>【转场】</a:t>
            </a:r>
          </a:p>
          <a:p>
            <a:r>
              <a:t>再讨论多场景与鲁棒性。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页 · 多场景与对抗鲁棒性：机制和适用范围】</a:t>
            </a:r>
          </a:p>
          <a:p/>
          <a:p>
            <a:r>
              <a:t>【讲述要点】</a:t>
            </a:r>
          </a:p>
          <a:p>
            <a:r>
              <a:t>• 图像采用JPEG与翻转增强，文本有改写训练探索。</a:t>
            </a:r>
          </a:p>
          <a:p>
            <a:r>
              <a:t>• 分量选择同时考虑强度和互补性，增加模型不保证提高。</a:t>
            </a:r>
          </a:p>
          <a:p>
            <a:r>
              <a:t>• 目标域、尺寸分布、长度截断限制泛化范围。</a:t>
            </a:r>
          </a:p>
          <a:p>
            <a:r>
              <a:t>• 跨生成器及强度分组尚没有完整独立评测。</a:t>
            </a:r>
          </a:p>
          <a:p/>
          <a:p>
            <a:r>
              <a:t>【口播正文】</a:t>
            </a:r>
          </a:p>
          <a:p>
            <a:r>
              <a:t>多场景和对抗鲁棒性，要同时看训练策略与专项测试。图像加入 JPEG 和翻转增强，目的是减少对固定呈现方式的依赖；文本已有改写训练探索，尝试应对表达变化。</a:t>
            </a:r>
          </a:p>
          <a:p>
            <a:r>
              <a:t>但有这些策略，还不能直接说已经覆盖各种攻击。目前还缺少完整、独立的分组评测。对于未见生成器、不同压缩裁剪、不同改写强度和长文本，需要分别测量性能下降。</a:t>
            </a:r>
          </a:p>
          <a:p>
            <a:r>
              <a:t>已有结果也提醒我们，增加模型不一定提高效果，前面展示的双 14B 种子组合就低于五折配置。尺寸先验会受图片规格变化影响，文本截断可能丢失尾部线索。这些都是部署时需要重点检查的条件。下面看效率和资源配置。</a:t>
            </a:r>
          </a:p>
          <a:p/>
          <a:p>
            <a:r>
              <a:t>【转场】</a:t>
            </a:r>
          </a:p>
          <a:p>
            <a:r>
              <a:t>接着看推理效率和部署。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页 · 检测效率与资源配置】</a:t>
            </a:r>
          </a:p>
          <a:p/>
          <a:p>
            <a:r>
              <a:t>【讲述要点】</a:t>
            </a:r>
          </a:p>
          <a:p>
            <a:r>
              <a:t>• 图像200张顺序HTTP共47.2秒，均值0.236秒/张。</a:t>
            </a:r>
          </a:p>
          <a:p>
            <a:r>
              <a:t>• 文本5条短输入含空串，HTTP均值0.68秒/条。</a:t>
            </a:r>
          </a:p>
          <a:p>
            <a:r>
              <a:t>• 共享基座、轮换适配器、串行请求保护状态。</a:t>
            </a:r>
          </a:p>
          <a:p>
            <a:r>
              <a:t>• 两组计时条件不同；文本为宿主GPU测量，不能视为最终容器验证。</a:t>
            </a:r>
          </a:p>
          <a:p>
            <a:r>
              <a:t>• 图像批量8分量0.07秒是单骨干探针外推；文本0.09到0.14秒含训练后评估等阶段，不能作为最终完整系统纯推理耗时。</a:t>
            </a:r>
          </a:p>
          <a:p/>
          <a:p>
            <a:r>
              <a:t>【口播正文】</a:t>
            </a:r>
          </a:p>
          <a:p>
            <a:r>
              <a:t>部署时，两条链都共享基座、顺序切换分量。图像完成 8 路打分，文本执行 15 个适配器前向。服务用互斥锁保护共享参数，避免请求相互覆盖。</a:t>
            </a:r>
          </a:p>
          <a:p>
            <a:r>
              <a:t>图像的已有测试，是 200 张图片顺序 HTTP 请求，共 47.2 秒，平均每张 0.236 秒。文本是 5 条测试输入，以短文本为主，其中包含空串，HTTP 均值 0.68 秒。两组条件不同，文本测量来自宿主 GPU，不能直接比较，也不能据此推算并发吞吐。批量预测还需要单独测量完整集成的总耗时。</a:t>
            </a:r>
          </a:p>
          <a:p>
            <a:r>
              <a:t>计算精度上，图像服务用 fp16，特征转 fp32 进入分类头；离线批量预测用 bf16 autocast。文本 CUDA 加载用 bf16。</a:t>
            </a:r>
          </a:p>
          <a:p>
            <a:r>
              <a:t>实际部署还要在目标设备上测显存、不同输入长度下的延迟，以及排队后的稳定性，再决定是否裁减分量或扩容。最后看这些检测分数怎样服务具体应用。</a:t>
            </a:r>
          </a:p>
          <a:p/>
          <a:p>
            <a:r>
              <a:t>【转场】</a:t>
            </a:r>
          </a:p>
          <a:p>
            <a:r>
              <a:t>最后是方案特点与应用价值。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13 页 · 从检测分数到内容审核辅助】</a:t>
            </a:r>
          </a:p>
          <a:p/>
          <a:p>
            <a:r>
              <a:t>【讲述要点】</a:t>
            </a:r>
          </a:p>
          <a:p>
            <a:r>
              <a:t>• 检测分数用于审核排序与风险分流。</a:t>
            </a:r>
          </a:p>
          <a:p>
            <a:r>
              <a:t>• 业务阈值需按误报成本与业务样本校准。</a:t>
            </a:r>
          </a:p>
          <a:p>
            <a:r>
              <a:t>• 内容平台、素材筛查为应用设想；通过试点与分布监控评估。</a:t>
            </a:r>
          </a:p>
          <a:p/>
          <a:p>
            <a:r>
              <a:t>【口播正文】</a:t>
            </a:r>
          </a:p>
          <a:p>
            <a:r>
              <a:t>我们的方案特点，是把异构表征、目标域软监督和逐条推理组合起来。它既利用不同模型的判断，也把目标数据的信息纳入训练和融合。</a:t>
            </a:r>
          </a:p>
          <a:p>
            <a:r>
              <a:t>应用上，可以让图片和文本分别评分，帮助内容平台、素材筛查安排审核优先级，再由人工处理高风险和边界内容。这是我们考虑的应用路径。</a:t>
            </a:r>
          </a:p>
          <a:p>
            <a:r>
              <a:t>落地时，阈值要根据误报成本来选，不能直接设为 0.5。如果场景更重视保护正常创作，就先确定可接受的误报率，再看生成内容的召回。同时监控来源、尺寸、语言和风格变化，必要时重新校准模型与参考表。我们计划先用代表性的业务数据评估，再做小范围试点。最后总结三点。</a:t>
            </a:r>
          </a:p>
          <a:p/>
          <a:p>
            <a:r>
              <a:t>【转场】</a:t>
            </a:r>
          </a:p>
          <a:p>
            <a:r>
              <a:t>用三个技术结论收束。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14 页 · 核心结论】</a:t>
            </a:r>
          </a:p>
          <a:p/>
          <a:p>
            <a:r>
              <a:t>【讲述要点】</a:t>
            </a:r>
          </a:p>
          <a:p>
            <a:r>
              <a:t>• 异构表征分别处理图像与文本。</a:t>
            </a:r>
          </a:p>
          <a:p>
            <a:r>
              <a:t>• 软标签和分数融合利用目标域信息。</a:t>
            </a:r>
          </a:p>
          <a:p>
            <a:r>
              <a:t>• 单样本推理结合阈值与人工审核。</a:t>
            </a:r>
          </a:p>
          <a:p/>
          <a:p>
            <a:r>
              <a:t>【口播正文】</a:t>
            </a:r>
          </a:p>
          <a:p>
            <a:r>
              <a:t>第一，图像和文本分别建模，用不同骨干补充检测线索。第二，用目标域软标签和分数融合，结合有限标签与无标签数据。第三，用共享基座和逐条推理，连接检测方法与应用场景。后续会继续围绕检测效果、计算成本和分布变化优化方案。我们的汇报到这里，谢谢各位评委，欢迎提问。</a:t>
            </a:r>
          </a:p>
          <a:p/>
          <a:p>
            <a:r>
              <a:t>【转场】</a:t>
            </a:r>
          </a:p>
          <a:p>
            <a:r>
              <a:t>感谢各位评委，欢迎提问。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="http://schemas.openxmlformats.org/presentationml/2006/main" spd="med" p14:dur="700">
        <p:fade/>
      </p:transition>
    </mc:Choice>
    <mc:Fallback>
      <p:transition xmlns:p="http://schemas.openxmlformats.org/presentationml/2006/main"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="http://schemas.openxmlformats.org/presentationml/2006/main" spd="med" p14:dur="700">
        <p:fade/>
      </p:transition>
    </mc:Choice>
    <mc:Fallback>
      <p:transition xmlns:p="http://schemas.openxmlformats.org/presentationml/2006/main" spd="med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="http://schemas.openxmlformats.org/presentationml/2006/main" spd="med" p14:dur="700">
        <p:fade/>
      </p:transition>
    </mc:Choice>
    <mc:Fallback>
      <p:transition xmlns:p="http://schemas.openxmlformats.org/presentationml/2006/main" spd="med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="http://schemas.openxmlformats.org/presentationml/2006/main" spd="med" p14:dur="700">
        <p:fade/>
      </p:transition>
    </mc:Choice>
    <mc:Fallback>
      <p:transition xmlns:p="http://schemas.openxmlformats.org/presentationml/2006/main" spd="med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="http://schemas.openxmlformats.org/presentationml/2006/main" spd="med" p14:dur="700">
        <p:fade/>
      </p:transition>
    </mc:Choice>
    <mc:Fallback>
      <p:transition xmlns:p="http://schemas.openxmlformats.org/presentationml/2006/main" spd="med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="http://schemas.openxmlformats.org/presentationml/2006/main" spd="med" p14:dur="700">
        <p:fade/>
      </p:transition>
    </mc:Choice>
    <mc:Fallback>
      <p:transition xmlns:p="http://schemas.openxmlformats.org/presentationml/2006/main" spd="med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="http://schemas.openxmlformats.org/presentationml/2006/main" spd="med" p14:dur="700">
        <p:fade/>
      </p:transition>
    </mc:Choice>
    <mc:Fallback>
      <p:transition xmlns:p="http://schemas.openxmlformats.org/presentationml/2006/main" spd="med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="http://schemas.openxmlformats.org/presentationml/2006/main" spd="med" p14:dur="700">
        <p:fade/>
      </p:transition>
    </mc:Choice>
    <mc:Fallback>
      <p:transition xmlns:p="http://schemas.openxmlformats.org/presentationml/2006/main" spd="med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="http://schemas.openxmlformats.org/presentationml/2006/main" spd="med" p14:dur="700">
        <p:fade/>
      </p:transition>
    </mc:Choice>
    <mc:Fallback>
      <p:transition xmlns:p="http://schemas.openxmlformats.org/presentationml/2006/main" spd="med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="http://schemas.openxmlformats.org/presentationml/2006/main" spd="med" p14:dur="700">
        <p:fade/>
      </p:transition>
    </mc:Choice>
    <mc:Fallback>
      <p:transition xmlns:p="http://schemas.openxmlformats.org/presentationml/2006/main" spd="med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="http://schemas.openxmlformats.org/presentationml/2006/main" spd="med" p14:dur="700">
        <p:fade/>
      </p:transition>
    </mc:Choice>
    <mc:Fallback>
      <p:transition xmlns:p="http://schemas.openxmlformats.org/presentationml/2006/main" spd="med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="http://schemas.openxmlformats.org/presentationml/2006/main" spd="med" p14:dur="700">
        <p:fade/>
      </p:transition>
    </mc:Choice>
    <mc:Fallback>
      <p:transition xmlns:p="http://schemas.openxmlformats.org/presentationml/2006/main" spd="med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="http://schemas.openxmlformats.org/presentationml/2006/main" spd="med" p14:dur="700">
        <p:fade/>
      </p:transition>
    </mc:Choice>
    <mc:Fallback>
      <p:transition xmlns:p="http://schemas.openxmlformats.org/presentationml/2006/main" spd="med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="http://schemas.openxmlformats.org/presentationml/2006/main" spd="med" p14:dur="700">
        <p:fade/>
      </p:transition>
    </mc:Choice>
    <mc:Fallback>
      <p:transition xmlns:p="http://schemas.openxmlformats.org/presentationml/2006/main"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